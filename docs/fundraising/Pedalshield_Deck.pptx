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sell verified physical-trip data to organizations legally required to measure commuting, who do it today with self-reported surveys.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thesis. Not bike rewards — verification without surveillance.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not asking anyone to believe in privacy or cycling. We offer a better number for a report they are legally required to file. First pilot target: Commute Options for Central Oregon, the region's TDM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MIT-licensed privacy contract. Anyone can clone the repo and run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model is published, including current gaps. Hardware attestation in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 fork broke every wallet holding pre-fork funds. We restored payouts the same day with a cross-pool migration spend nobody had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WSDOT Commute Trip Reduction; Oregon DEQ ECO; SCAQMD Rule 2202.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 fork is the story worth telling live: legacy-pool funds could no longer be sent to anyone. I built a cross-pool migration spend that carries the migration inside each payout, so my existing scanner kept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targets: Commute Options for Central Oregon, OSU-Cascades Mobility Lab, City of Bend.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D99F"/>
                </a:solidFill>
                <a:latin typeface="Arial"/>
              </a:rPr>
              <a:t>P E D A L S H I E L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146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AF6F0"/>
                </a:solidFill>
                <a:latin typeface="Arial"/>
              </a:rPr>
              <a:t>Prove the ride.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AF6F0"/>
                </a:solidFill>
                <a:latin typeface="Arial"/>
              </a:rPr>
              <a:t>Never the route.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2628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8A0"/>
                </a:solidFill>
                <a:latin typeface="Calibri"/>
              </a:rPr>
              <a:t>Verified proof that a person physically made a trip — without collecting anywhere they went.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8079"/>
                </a:solidFill>
                <a:latin typeface="Calibri"/>
              </a:rPr>
              <a:t>IntelliGrip Industries   ·   Bend, Oregon   ·   pedalshield.app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Nobody can prove a trip happened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without surveilling the traveller.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Every system that rewards or reports physical movement faces the same fork.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06040"/>
            <a:ext cx="5394960" cy="25603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880360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Trust the self-report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410712"/>
            <a:ext cx="48097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A survey, or an app where someone taps “I biked today.”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Cheap, and unverifiable. Nobody knows the real number. Incentives pay out on the honor system, and the data is weak evidence for funding or climate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606040"/>
            <a:ext cx="5376672" cy="25603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9128" y="2880360"/>
            <a:ext cx="4791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Collect location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3410712"/>
            <a:ext cx="479145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Continuous GPS from every participant.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Accurate — and now you hold a database of where your employees or students go. Legal objects, participation drops, and it is a breach waiting to happen.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D99F"/>
                </a:solidFill>
                <a:latin typeface="Arial"/>
              </a:rPr>
              <a:t>Pedalshield collapses the fork: the phone does the judging, and only the verdict leaves.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The demand is written into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Washington requires worksites of 100+ employees to measure drive-alone rates every two years. Oregon and California have their own mandates.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BD99F"/>
                </a:solidFill>
                <a:latin typeface="Arial"/>
              </a:rPr>
              <a:t>1,000+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4436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WA worksites under the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Commute Trip Reduction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28600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A78BFA"/>
                </a:solidFill>
                <a:latin typeface="Arial"/>
              </a:rPr>
              <a:t>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94436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California SB 253 adds employee-commuting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emissions to mandatory disclosure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286000"/>
            <a:ext cx="3566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BD99F"/>
                </a:solidFill>
                <a:latin typeface="Arial"/>
              </a:rPr>
              <a:t>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944368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the self-reported survey that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produces both numbers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911535" cy="169164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4315968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F6F0"/>
                </a:solidFill>
                <a:latin typeface="Arial"/>
              </a:rPr>
              <a:t>We don’t have to create the demand, and we don’t sell one worksite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1800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93A8A0"/>
                </a:solidFill>
                <a:latin typeface="Calibri"/>
              </a:rPr>
              <a:t>~4,000 US worksites sit under an active commute mandate today. From 2027, every company over $1B revenue doing business in California must disclose employee-commuting emissions — a far larger set, reporting the same unverified survey. We reach both through the channels that already serve them: commute-software vendors whose weakest link is verification, and regional transportation programs that run the incentives.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The rider’s phone verifies the ride. A signed verdict leaves. The route never does.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487168"/>
            <a:ext cx="384048" cy="384048"/>
          </a:xfrm>
          <a:prstGeom prst="ellipse">
            <a:avLst/>
          </a:prstGeom>
          <a:solidFill>
            <a:srgbClr val="2B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512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5146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044952"/>
            <a:ext cx="29352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GPS, accelerometer, gyroscope and barometer are read on-device during the ride. Nothing is uploaded.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4028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617720" y="2487168"/>
            <a:ext cx="384048" cy="384048"/>
          </a:xfrm>
          <a:prstGeom prst="ellipse">
            <a:avLst/>
          </a:prstGeom>
          <a:solidFill>
            <a:srgbClr val="2B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512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072" y="25146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044952"/>
            <a:ext cx="29352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A physics engine scores the ride against what a bicycle can actually do — speed envelopes, pedaling cadence, road vibration, sensor agreement.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40280"/>
            <a:ext cx="3502152" cy="242316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21040" y="2487168"/>
            <a:ext cx="384048" cy="384048"/>
          </a:xfrm>
          <a:prstGeom prst="ellipse">
            <a:avLst/>
          </a:prstGeom>
          <a:solidFill>
            <a:srgbClr val="2B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512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2514600"/>
            <a:ext cx="24048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3044952"/>
            <a:ext cx="29169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The phone emits a distance and an integrity score, signed by a device key. That is the entire payload.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8A0"/>
                </a:solidFill>
                <a:latin typeface="Calibri"/>
              </a:rPr>
              <a:t>An open-source test fails the build if any location or sensor field could appear in that payload. The privacy promise is executable, not a policy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Why this is hard — and why it is 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Anyone can claim a trip. Making the claim expensive to fake is the entire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514600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Single-sensor checks fall to single-sensor fakes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044952"/>
            <a:ext cx="48097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Replay a real GPS track while shaking the phone, and every conventional check passes.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4206240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So we check that the sensors agree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36592"/>
            <a:ext cx="48097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The gyroscope must rotate when GPS says you turned. Road vibration must rise as you accelerate. Faking one stream is easy; faking two that stay coherent in time is a different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240280"/>
            <a:ext cx="5376672" cy="155448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39128" y="2514600"/>
            <a:ext cx="4791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Wrong answers cost more than missed 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3044952"/>
            <a:ext cx="47914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A rejected honest rider is churn. Impossible stretches are excised and earn nothing; the rest of the ride still pays.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931920"/>
            <a:ext cx="5376672" cy="182880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39128" y="4206240"/>
            <a:ext cx="4791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The engine is the licensable 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4736592"/>
            <a:ext cx="47914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The privacy contract is open source. The scoring engine is not. Its value compounds with real ride data — the part a competitor cannot copy.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It works, on mainnet, with no human in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Every payout is built, proved, signed and broadcast autonomously. Verify any of these yourself.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10911535" cy="676656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19" y="2240280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BD99F"/>
                </a:solidFill>
                <a:latin typeface="Courier New"/>
              </a:rPr>
              <a:t>fbf4e134…d16ed8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240280"/>
            <a:ext cx="7025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8A0"/>
                </a:solidFill>
                <a:latin typeface="Calibri"/>
              </a:rPr>
              <a:t>First payout after the Zcash hard fork — a cross-pool migration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81528"/>
            <a:ext cx="10911535" cy="676656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19" y="3081528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BD99F"/>
                </a:solidFill>
                <a:latin typeface="Courier New"/>
              </a:rPr>
              <a:t>c42a0097…5f72b8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081528"/>
            <a:ext cx="7025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8A0"/>
                </a:solidFill>
                <a:latin typeface="Calibri"/>
              </a:rPr>
              <a:t>3.07 verified miles  ·  integrity 0.71  ·  30,000 zatoshi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22776"/>
            <a:ext cx="10911535" cy="676656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19" y="3922776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BD99F"/>
                </a:solidFill>
                <a:latin typeface="Courier New"/>
              </a:rPr>
              <a:t>7bcda2d6…803164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922776"/>
            <a:ext cx="7025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8A0"/>
                </a:solidFill>
                <a:latin typeface="Calibri"/>
              </a:rPr>
              <a:t>1.04 verified miles  ·  integrity 0.69  ·  17,674 zatoshi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D99F"/>
                </a:solidFill>
                <a:latin typeface="Arial"/>
              </a:rPr>
              <a:t>4 min →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3328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payout latency, after rebuilding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the treasury’s chain 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074920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78BFA"/>
                </a:solidFill>
                <a:latin typeface="Arial"/>
              </a:rPr>
              <a:t>0.62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7332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verification threshold — tuned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against real rejected rides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5074920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D99F"/>
                </a:solidFill>
                <a:latin typeface="Arial"/>
              </a:rPr>
              <a:t>~$0.09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573328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per mile, pegged to the EPA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social cost of carbon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Market — built bottoms-up from a verified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Washington’s 1,000+ mandated worksites sit in counties holding ~6.5M of 340M Americans. Scaled by population: ~50,000 US worksites meet CTR-style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7802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6F0"/>
                </a:solidFill>
                <a:latin typeface="Arial"/>
              </a:rPr>
              <a:t>Mandated worksites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8079"/>
                </a:solidFill>
                <a:latin typeface="Calibri"/>
              </a:rPr>
              <a:t>4,000 × $6k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532888"/>
            <a:ext cx="3657600" cy="310896"/>
          </a:xfrm>
          <a:prstGeom prst="roundRect">
            <a:avLst>
              <a:gd name="adj" fmla="val 35000"/>
            </a:avLst>
          </a:prstGeom>
          <a:solidFill>
            <a:srgbClr val="1E322B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206240" y="2532888"/>
            <a:ext cx="292608" cy="310896"/>
          </a:xfrm>
          <a:prstGeom prst="roundRect">
            <a:avLst>
              <a:gd name="adj" fmla="val 35000"/>
            </a:avLst>
          </a:prstGeom>
          <a:solidFill>
            <a:srgbClr val="2BD99F"/>
          </a:solidFill>
          <a:ln w="12700">
            <a:solidFill>
              <a:srgbClr val="2BD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28431" y="253288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6F0"/>
                </a:solidFill>
                <a:latin typeface="Arial"/>
              </a:rPr>
              <a:t>$24M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3814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6F0"/>
                </a:solidFill>
                <a:latin typeface="Arial"/>
              </a:rPr>
              <a:t>Universities with TDM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8079"/>
                </a:solidFill>
                <a:latin typeface="Calibri"/>
              </a:rPr>
              <a:t>700 × $15k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493008"/>
            <a:ext cx="3657600" cy="310896"/>
          </a:xfrm>
          <a:prstGeom prst="roundRect">
            <a:avLst>
              <a:gd name="adj" fmla="val 35000"/>
            </a:avLst>
          </a:prstGeom>
          <a:solidFill>
            <a:srgbClr val="1E322B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206240" y="3493008"/>
            <a:ext cx="134112" cy="310896"/>
          </a:xfrm>
          <a:prstGeom prst="roundRect">
            <a:avLst>
              <a:gd name="adj" fmla="val 35000"/>
            </a:avLst>
          </a:prstGeom>
          <a:solidFill>
            <a:srgbClr val="2BD99F"/>
          </a:solidFill>
          <a:ln w="12700">
            <a:solidFill>
              <a:srgbClr val="2BD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28431" y="349300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6F0"/>
                </a:solidFill>
                <a:latin typeface="Arial"/>
              </a:rPr>
              <a:t>$11M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9826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6F0"/>
                </a:solidFill>
                <a:latin typeface="Arial"/>
              </a:rPr>
              <a:t>CTR-eligible US worksites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5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8079"/>
                </a:solidFill>
                <a:latin typeface="Calibri"/>
              </a:rPr>
              <a:t>50,000 × $6k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453127"/>
            <a:ext cx="3657600" cy="310896"/>
          </a:xfrm>
          <a:prstGeom prst="roundRect">
            <a:avLst>
              <a:gd name="adj" fmla="val 35000"/>
            </a:avLst>
          </a:prstGeom>
          <a:solidFill>
            <a:srgbClr val="1E322B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206240" y="4453127"/>
            <a:ext cx="3657600" cy="310896"/>
          </a:xfrm>
          <a:prstGeom prst="roundRect">
            <a:avLst>
              <a:gd name="adj" fmla="val 35000"/>
            </a:avLst>
          </a:prstGeom>
          <a:solidFill>
            <a:srgbClr val="2BD99F"/>
          </a:solidFill>
          <a:ln w="12700">
            <a:solidFill>
              <a:srgbClr val="2BD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28431" y="445312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6F0"/>
                </a:solidFill>
                <a:latin typeface="Arial"/>
              </a:rPr>
              <a:t>$300M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2377440"/>
            <a:ext cx="2633472" cy="292608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64040" y="26974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BD99F"/>
                </a:solidFill>
                <a:latin typeface="Arial"/>
              </a:rPr>
              <a:t>$300M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4015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beachhead TAM, per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84048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3A8A0"/>
                </a:solidFill>
                <a:latin typeface="Calibri"/>
              </a:rPr>
              <a:t>$6,000 ACV assumes 500 employees at $12/employee/year — priced as compliance software, because per-trip pricing nets only ~$1,400 per site.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8079"/>
                </a:solidFill>
                <a:latin typeface="Calibri"/>
              </a:rPr>
              <a:t>Not sized here: from 2027 California SB 253 requires every company over $1B revenue operating in the state to disclose employee-commuting emissions. Same product, separate and larger buyer set — we have not put a number on it because we cannot yet verify the company 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The primitive is horizontal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Proof someone physically did something, without collecting where. Commute is the wedge, not the ceiling.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487168"/>
            <a:ext cx="384048" cy="384048"/>
          </a:xfrm>
          <a:prstGeom prst="ellipse">
            <a:avLst/>
          </a:prstGeom>
          <a:solidFill>
            <a:srgbClr val="2B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512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5146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Commute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044952"/>
            <a:ext cx="2935224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>~$300M/yr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>Mandated measurement, existing budgets, and no incumbent doing verification. Our beachhead.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4028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617720" y="2487168"/>
            <a:ext cx="384048" cy="38404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512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072" y="25146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Usage-based 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044952"/>
            <a:ext cx="2935224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>$6.9B market in 2026, ~20% of US auto policies and rising to 30–35%.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>Built entirely on location harvesting — and four states have introduced bills restricting it. A privacy-preserving layer at 3–5% is $200–350M/yr.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4028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21040" y="2487168"/>
            <a:ext cx="384048" cy="384048"/>
          </a:xfrm>
          <a:prstGeom prst="ellipse">
            <a:avLst/>
          </a:prstGeom>
          <a:solidFill>
            <a:srgbClr val="2B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512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2514600"/>
            <a:ext cx="24048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Gig &amp;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3044952"/>
            <a:ext cx="291693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>DoorDash lost $2.5M to a single GPS-spoofing scheme, and in 2026 banned a driver for AI-fabricated delivery evidence.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93A8A0"/>
                </a:solidFill>
                <a:latin typeface="Calibri"/>
              </a:rPr>
              <a:t>Platforms already buy location-integrity tooling.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8A0"/>
                </a:solidFill>
                <a:latin typeface="Calibri"/>
              </a:rPr>
              <a:t>Scale comes from licensing the engine into channels that already own the customer — one commute platform reaches thousands of enterprises; one insurance carrier is worth a thousand worksites.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How we make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Two lines, and neither of them charges the rider.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514600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Compliance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044952"/>
            <a:ext cx="48097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A per-worksite annual contract. The deliverable is verified trip counts a program manager can put in a statutory report — replacing a self-reported survey they already know is weak.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240280"/>
            <a:ext cx="5376672" cy="23317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9128" y="2514600"/>
            <a:ext cx="4791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Engine licensing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3044952"/>
            <a:ext cx="4791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The verification engine as an SDK, priced per verified trip or per seat, sold into platforms that already have the customers: commute software, telematics,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00600"/>
            <a:ext cx="10911535" cy="141732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6F0"/>
                </a:solidFill>
                <a:latin typeface="Arial"/>
              </a:rPr>
              <a:t>We sell measurement, never offsets.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101800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3A8A0"/>
                </a:solidFill>
                <a:latin typeface="Calibri"/>
              </a:rPr>
              <a:t>Buyers get a verified number for their own emissions inventory — not a tradable credit. The rider is already paid the carbon value of the mile, so selling a credit on the same mile would double-count it. Riders never pay, and never sell their data by default; if they opt in to contribute route data, the co-op pays them a share of what it is licensed for.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Solo. One pair of hands from the Orchard wallet to the App Store 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AF6F0"/>
                </a:solidFill>
                <a:latin typeface="Arial"/>
              </a:rPr>
              <a:t>Samuel B. Newman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BD99F"/>
                </a:solidFill>
                <a:latin typeface="Calibri"/>
              </a:rPr>
              <a:t>Founder · IntelliGrip Industries · Bend, Oregon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46634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3A8A0"/>
                </a:solidFill>
                <a:latin typeface="Calibri"/>
              </a:rPr>
              <a:t>Before this I built eBikes Tubes Direct, an e-commerce tube and tire company I scaled to $300K — selling to cyclists, one order at a time.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3A8A0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3A8A0"/>
                </a:solidFill>
                <a:latin typeface="Calibri"/>
              </a:rPr>
              <a:t>A verified bicycle mile is worth nothing today. Neither is the pollution it avoided. Not because the value isn’t real, but because nobody can prove the mile happened.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3A8A0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3A8A0"/>
                </a:solidFill>
                <a:latin typeface="Calibri"/>
              </a:rPr>
              <a:t>I am building that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D99F"/>
                </a:solidFill>
                <a:latin typeface="Arial"/>
              </a:rPr>
              <a:t>10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85292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from first commit to a live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iOS app paying on mainnet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19" y="219456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A78BFA"/>
                </a:solidFill>
                <a:latin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285292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commits, one 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94760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A78BFA"/>
                </a:solidFill>
                <a:latin typeface="Arial"/>
              </a:rPr>
              <a:t>~40k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45312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lines of Rust and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TypeScript,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3794760"/>
            <a:ext cx="2377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D99F"/>
                </a:solidFill>
                <a:latin typeface="Arial"/>
              </a:rPr>
              <a:t>$300K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45312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revenue at my previous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8A0"/>
                </a:solidFill>
                <a:latin typeface="Calibri"/>
              </a:rPr>
              <a:t>company, also solo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943600"/>
            <a:ext cx="10911535" cy="68580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6108192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8A0"/>
                </a:solidFill>
                <a:latin typeface="Calibri"/>
              </a:rPr>
              <a:t>Built solo: a hand-rolled Zcash Orchard wallet, an on-device anti-cheat engine, an autonomous payout treasury, and an iOS app — then kept it paying through a consensus hard fork the same day it broke.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AF6F0"/>
                </a:solidFill>
                <a:latin typeface="Arial"/>
              </a:rPr>
              <a:t>Where we actually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3A8A0"/>
                </a:solidFill>
                <a:latin typeface="Calibri"/>
              </a:rPr>
              <a:t>Stated plainly, because the gap is the 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514600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Built and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044952"/>
            <a:ext cx="480974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iOS app shipping on TestFlight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Autonomous shielded payouts on mainnet, no operator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An anti-cheat engine that survived a consensus hard fork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Published threat model, MIT privacy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240280"/>
            <a:ext cx="5376672" cy="237744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2700">
            <a:solidFill>
              <a:srgbClr val="1E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9128" y="2514600"/>
            <a:ext cx="4791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6F0"/>
                </a:solidFill>
                <a:latin typeface="Arial"/>
              </a:rPr>
              <a:t>Not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3044952"/>
            <a:ext cx="479145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One rider — the founder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Zero revenue, zero customers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Thresholds tuned against synthetic attacks and a handful of real rides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93A8A0"/>
                </a:solidFill>
                <a:latin typeface="Calibri"/>
              </a:rPr>
              <a:t>No pilot 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911535" cy="1280160"/>
          </a:xfrm>
          <a:prstGeom prst="roundRect">
            <a:avLst>
              <a:gd name="adj" fmla="val 6000"/>
            </a:avLst>
          </a:prstGeom>
          <a:solidFill>
            <a:srgbClr val="132420"/>
          </a:solidFill>
          <a:ln w="19050">
            <a:solidFill>
              <a:srgbClr val="2BD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5093208"/>
            <a:ext cx="101800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D99F"/>
                </a:solidFill>
                <a:latin typeface="Arial"/>
              </a:rPr>
              <a:t>The ask: ten riders and one signed pilot in Bend.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2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8A0"/>
                </a:solidFill>
                <a:latin typeface="Calibri"/>
              </a:rPr>
              <a:t>That pilot answers the only question no amount of engineering can: how far apart are self-reported and verified trip counts — and will an organization pay to know.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